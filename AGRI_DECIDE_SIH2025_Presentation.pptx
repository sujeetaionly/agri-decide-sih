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644" y="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18-Aug-26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18-Aug-26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18-Aug-26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18-Aug-26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18-Aug-26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18-Aug-26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18-Aug-26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18-Aug-26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18-Aug-26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18-Aug-26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18-Aug-26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18-Aug-26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18-Aug-26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388732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TextBox 1026"/>
          <p:cNvSpPr txBox="1"/>
          <p:nvPr/>
        </p:nvSpPr>
        <p:spPr>
          <a:xfrm>
            <a:off x="365760" y="2011680"/>
            <a:ext cx="6217920" cy="4480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800"/>
              </a:spcAft>
            </a:pPr>
            <a:r>
              <a:rPr sz="1750" b="1" dirty="0">
                <a:solidFill>
                  <a:srgbClr val="0F172A"/>
                </a:solidFill>
                <a:latin typeface="Arial"/>
              </a:rPr>
              <a:t>• Problem Statement ID – </a:t>
            </a:r>
            <a:r>
              <a:rPr sz="1750" b="1" dirty="0">
                <a:solidFill>
                  <a:srgbClr val="0070C0"/>
                </a:solidFill>
                <a:latin typeface="Arial"/>
              </a:rPr>
              <a:t>PS24 / SIH2025-PS24</a:t>
            </a:r>
          </a:p>
          <a:p>
            <a:pPr>
              <a:spcAft>
                <a:spcPts val="1800"/>
              </a:spcAft>
            </a:pPr>
            <a:r>
              <a:rPr sz="1750" b="1" dirty="0">
                <a:solidFill>
                  <a:srgbClr val="0F172A"/>
                </a:solidFill>
                <a:latin typeface="Arial"/>
              </a:rPr>
              <a:t>• Problem Statement Title- </a:t>
            </a:r>
            <a:r>
              <a:rPr sz="1750" b="1" dirty="0">
                <a:solidFill>
                  <a:srgbClr val="0070C0"/>
                </a:solidFill>
                <a:latin typeface="Arial"/>
              </a:rPr>
              <a:t>AI-Based Crop Recommendation Engine for Farmers</a:t>
            </a:r>
          </a:p>
          <a:p>
            <a:pPr>
              <a:spcAft>
                <a:spcPts val="1800"/>
              </a:spcAft>
            </a:pPr>
            <a:r>
              <a:rPr sz="1750" b="1" dirty="0">
                <a:solidFill>
                  <a:srgbClr val="0F172A"/>
                </a:solidFill>
                <a:latin typeface="Arial"/>
              </a:rPr>
              <a:t>• Theme- </a:t>
            </a:r>
            <a:r>
              <a:rPr sz="1750" b="1" dirty="0">
                <a:solidFill>
                  <a:srgbClr val="0070C0"/>
                </a:solidFill>
                <a:latin typeface="Arial"/>
              </a:rPr>
              <a:t>Agriculture, Food Technology &amp; Rural Development</a:t>
            </a:r>
          </a:p>
          <a:p>
            <a:pPr>
              <a:spcAft>
                <a:spcPts val="1800"/>
              </a:spcAft>
            </a:pPr>
            <a:r>
              <a:rPr sz="1750" b="1" dirty="0">
                <a:solidFill>
                  <a:srgbClr val="0F172A"/>
                </a:solidFill>
                <a:latin typeface="Arial"/>
              </a:rPr>
              <a:t>• PS Category- Software</a:t>
            </a:r>
          </a:p>
          <a:p>
            <a:pPr>
              <a:spcAft>
                <a:spcPts val="1800"/>
              </a:spcAft>
            </a:pPr>
            <a:r>
              <a:rPr sz="1750" b="1" dirty="0">
                <a:solidFill>
                  <a:srgbClr val="0F172A"/>
                </a:solidFill>
                <a:latin typeface="Arial"/>
              </a:rPr>
              <a:t>• Team ID- MNIT-SIH2025-01</a:t>
            </a:r>
          </a:p>
          <a:p>
            <a:pPr>
              <a:spcAft>
                <a:spcPts val="1800"/>
              </a:spcAft>
            </a:pPr>
            <a:r>
              <a:rPr sz="1750" b="1" dirty="0">
                <a:solidFill>
                  <a:srgbClr val="0F172A"/>
                </a:solidFill>
                <a:latin typeface="Arial"/>
              </a:rPr>
              <a:t>• Team Name (Registered on portal)- </a:t>
            </a:r>
            <a:r>
              <a:rPr sz="1750" b="1" dirty="0">
                <a:solidFill>
                  <a:srgbClr val="0070C0"/>
                </a:solidFill>
                <a:latin typeface="Arial"/>
              </a:rPr>
              <a:t>AGRI-DECIDE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AGRI-</a:t>
            </a:r>
            <a:br/>
            <a:r>
              <a:t>DECIDE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362" name="TextBox 15361"/>
          <p:cNvSpPr txBox="1"/>
          <p:nvPr/>
        </p:nvSpPr>
        <p:spPr>
          <a:xfrm>
            <a:off x="365760" y="1005840"/>
            <a:ext cx="114300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50" b="1" u="sng">
                <a:solidFill>
                  <a:srgbClr val="0070C0"/>
                </a:solidFill>
                <a:latin typeface="Arial"/>
              </a:rPr>
              <a:t>❖ Proposed Solution (Describe your Idea/Solution/Prototype)</a:t>
            </a:r>
          </a:p>
        </p:txBody>
      </p:sp>
      <p:sp>
        <p:nvSpPr>
          <p:cNvPr id="15363" name="Rectangle 15362"/>
          <p:cNvSpPr/>
          <p:nvPr/>
        </p:nvSpPr>
        <p:spPr>
          <a:xfrm>
            <a:off x="365760" y="1371600"/>
            <a:ext cx="5120640" cy="484632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t"/>
          <a:lstStyle/>
          <a:p>
            <a:pPr algn="ctr"/>
            <a:r>
              <a:rPr sz="1600" b="1" dirty="0">
                <a:solidFill>
                  <a:srgbClr val="1A428A"/>
                </a:solidFill>
                <a:latin typeface="Arial"/>
              </a:rPr>
              <a:t>Detailed explanation of the proposed solution</a:t>
            </a:r>
            <a:endParaRPr lang="en-US" sz="1600" b="1" dirty="0">
              <a:solidFill>
                <a:srgbClr val="1A428A"/>
              </a:solidFill>
              <a:latin typeface="Arial"/>
            </a:endParaRPr>
          </a:p>
          <a:p>
            <a:pPr algn="ctr"/>
            <a:endParaRPr sz="1150" b="1" dirty="0">
              <a:solidFill>
                <a:srgbClr val="1A428A"/>
              </a:solidFill>
              <a:latin typeface="Arial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sz="1200" dirty="0">
                <a:solidFill>
                  <a:srgbClr val="334155"/>
                </a:solidFill>
                <a:latin typeface="Arial"/>
              </a:rPr>
              <a:t>Replaces static Kaggle NPK classification with real </a:t>
            </a:r>
            <a:r>
              <a:rPr sz="1200" dirty="0" err="1">
                <a:solidFill>
                  <a:srgbClr val="334155"/>
                </a:solidFill>
                <a:latin typeface="Arial"/>
              </a:rPr>
              <a:t>agro</a:t>
            </a:r>
            <a:r>
              <a:rPr sz="1200" dirty="0">
                <a:solidFill>
                  <a:srgbClr val="334155"/>
                </a:solidFill>
                <a:latin typeface="Arial"/>
              </a:rPr>
              <a:t>-climatic &amp; economic intelligence.
Automatically ingests </a:t>
            </a:r>
            <a:r>
              <a:rPr sz="1200" dirty="0" err="1">
                <a:solidFill>
                  <a:srgbClr val="334155"/>
                </a:solidFill>
                <a:latin typeface="Arial"/>
              </a:rPr>
              <a:t>SoilGrids</a:t>
            </a:r>
            <a:r>
              <a:rPr sz="1200" dirty="0">
                <a:solidFill>
                  <a:srgbClr val="334155"/>
                </a:solidFill>
                <a:latin typeface="Arial"/>
              </a:rPr>
              <a:t> GIS texture &amp; ICAR climate GDD via GPS/Taluka without soil kits.</a:t>
            </a:r>
            <a:r>
              <a:rPr lang="en-IN" sz="1200" dirty="0">
                <a:solidFill>
                  <a:srgbClr val="334155"/>
                </a:solidFill>
                <a:latin typeface="Arial"/>
              </a:rPr>
              <a:t>
</a:t>
            </a:r>
            <a:r>
              <a:rPr sz="1200" dirty="0">
                <a:solidFill>
                  <a:srgbClr val="334155"/>
                </a:solidFill>
                <a:latin typeface="Arial"/>
              </a:rPr>
              <a:t>Multi-crop side-by-side ranking ranked by Net Realization per Day (₹/Day).</a:t>
            </a:r>
            <a:endParaRPr lang="en-US" sz="1200" dirty="0">
              <a:solidFill>
                <a:srgbClr val="334155"/>
              </a:solidFill>
              <a:latin typeface="Arial"/>
            </a:endParaRPr>
          </a:p>
          <a:p>
            <a:endParaRPr sz="1200" dirty="0">
              <a:solidFill>
                <a:srgbClr val="334155"/>
              </a:solidFill>
              <a:latin typeface="Arial"/>
            </a:endParaRPr>
          </a:p>
          <a:p>
            <a:pPr marL="285750" indent="-285750">
              <a:lnSpc>
                <a:spcPct val="150000"/>
              </a:lnSpc>
              <a:spcBef>
                <a:spcPts val="800"/>
              </a:spcBef>
              <a:buFont typeface="Wingdings" panose="05000000000000000000" pitchFamily="2" charset="2"/>
              <a:buChar char="Ø"/>
            </a:pPr>
            <a:r>
              <a:rPr sz="1400" b="1" dirty="0">
                <a:solidFill>
                  <a:srgbClr val="1A428A"/>
                </a:solidFill>
                <a:latin typeface="Arial"/>
              </a:rPr>
              <a:t>How it addresses the problem</a:t>
            </a:r>
            <a:endParaRPr sz="1150" b="1" dirty="0">
              <a:solidFill>
                <a:srgbClr val="1A428A"/>
              </a:solidFill>
              <a:latin typeface="Arial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sz="1200" dirty="0">
                <a:solidFill>
                  <a:srgbClr val="334155"/>
                </a:solidFill>
                <a:latin typeface="Arial"/>
              </a:rPr>
              <a:t>Soil &amp; Water: Factors exact irrigation source (borewell, canal, rainfed) and storage capacity.
Sowing Windows: Penalizes delayed sowing yields against regional ICAR agronomic cutoffs.
True Farm Economics: Ingests official CACP cost norms and deducts owned machinery rental savings.</a:t>
            </a:r>
            <a:endParaRPr lang="en-US" sz="1200" dirty="0">
              <a:solidFill>
                <a:srgbClr val="334155"/>
              </a:solidFill>
              <a:latin typeface="Arial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endParaRPr sz="1200" dirty="0">
              <a:solidFill>
                <a:srgbClr val="334155"/>
              </a:solidFill>
              <a:latin typeface="Arial"/>
            </a:endParaRPr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sz="1400" b="1" dirty="0">
                <a:solidFill>
                  <a:srgbClr val="1A428A"/>
                </a:solidFill>
                <a:latin typeface="Arial"/>
              </a:rPr>
              <a:t>• Innovation and uniqueness of the solution</a:t>
            </a:r>
            <a:endParaRPr sz="1150" b="1" dirty="0">
              <a:solidFill>
                <a:srgbClr val="1A428A"/>
              </a:solidFill>
              <a:latin typeface="Arial"/>
            </a:endParaRPr>
          </a:p>
          <a:p>
            <a:r>
              <a:rPr sz="1200" dirty="0">
                <a:solidFill>
                  <a:srgbClr val="334155"/>
                </a:solidFill>
                <a:latin typeface="Arial"/>
              </a:rPr>
              <a:t>▪ Explainable AI: Plain-language bullets explaining why the #1 crop was recommended.
▪ 'What-If' Sandbox: Real-time sensitivity sliders to simulate climate shocks (-20% rain, +15d delay).
▪ Rural Speech Interface: Dual-language PWA (Hindi/English) with speech crop input &amp; audio TTS.</a:t>
            </a:r>
          </a:p>
        </p:txBody>
      </p:sp>
      <p:pic>
        <p:nvPicPr>
          <p:cNvPr id="15364" name="Picture 15363" descr="slide2_scorec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1371600"/>
            <a:ext cx="61722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AGRI-</a:t>
            </a:r>
            <a:br/>
            <a:r>
              <a:t>DECIDE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0" name="TextBox 17409"/>
          <p:cNvSpPr txBox="1"/>
          <p:nvPr/>
        </p:nvSpPr>
        <p:spPr>
          <a:xfrm>
            <a:off x="365760" y="987552"/>
            <a:ext cx="114300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50" b="1">
                <a:solidFill>
                  <a:srgbClr val="0A2240"/>
                </a:solidFill>
                <a:latin typeface="Arial"/>
              </a:rPr>
              <a:t>• Methodology &amp; process for implementation (End-to-End System Architecture Pipeline)</a:t>
            </a:r>
          </a:p>
        </p:txBody>
      </p:sp>
      <p:pic>
        <p:nvPicPr>
          <p:cNvPr id="17411" name="Picture 17410" descr="slide3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325880"/>
            <a:ext cx="11430000" cy="2926080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365760" y="4343400"/>
            <a:ext cx="114300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250" b="1">
                <a:solidFill>
                  <a:srgbClr val="0A2240"/>
                </a:solidFill>
                <a:latin typeface="Arial"/>
              </a:rPr>
              <a:t>• Technologies to be used (Full-Stack Enterprise &amp; AI/ML Architecture)</a:t>
            </a:r>
          </a:p>
        </p:txBody>
      </p:sp>
      <p:sp>
        <p:nvSpPr>
          <p:cNvPr id="17413" name="Rectangle 17412"/>
          <p:cNvSpPr/>
          <p:nvPr/>
        </p:nvSpPr>
        <p:spPr>
          <a:xfrm>
            <a:off x="365760" y="4663440"/>
            <a:ext cx="2606040" cy="1572768"/>
          </a:xfrm>
          <a:prstGeom prst="rect">
            <a:avLst/>
          </a:prstGeom>
          <a:solidFill>
            <a:srgbClr val="F8FAFC"/>
          </a:solidFill>
          <a:ln w="1778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t"/>
          <a:lstStyle/>
          <a:p>
            <a:pPr algn="ctr"/>
            <a:r>
              <a:rPr sz="950" b="1">
                <a:solidFill>
                  <a:srgbClr val="0070C0"/>
                </a:solidFill>
                <a:latin typeface="Arial"/>
              </a:rPr>
              <a:t>Presentation PWA Layer
</a:t>
            </a:r>
          </a:p>
          <a:p>
            <a:r>
              <a:rPr sz="850" b="1">
                <a:solidFill>
                  <a:srgbClr val="0F172A"/>
                </a:solidFill>
                <a:latin typeface="Arial"/>
              </a:rPr>
              <a:t>Stack: React / Next.js + Tailwind CSS
</a:t>
            </a:r>
          </a:p>
          <a:p>
            <a:r>
              <a:rPr sz="800">
                <a:solidFill>
                  <a:srgbClr val="334155"/>
                </a:solidFill>
                <a:latin typeface="Arial"/>
              </a:rPr>
              <a:t>Mobile-first PWA (&lt;2MB), Web Speech API for Hindi voice recognition &amp; audio TTS playback. GIGW compliant.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3236976" y="4663440"/>
            <a:ext cx="2606040" cy="1572768"/>
          </a:xfrm>
          <a:prstGeom prst="rect">
            <a:avLst/>
          </a:prstGeom>
          <a:solidFill>
            <a:srgbClr val="F8FAFC"/>
          </a:solidFill>
          <a:ln w="17780">
            <a:solidFill>
              <a:srgbClr val="1A4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t"/>
          <a:lstStyle/>
          <a:p>
            <a:pPr algn="ctr"/>
            <a:r>
              <a:rPr sz="950" b="1">
                <a:solidFill>
                  <a:srgbClr val="1A428A"/>
                </a:solidFill>
                <a:latin typeface="Arial"/>
              </a:rPr>
              <a:t>Backend REST Engine
</a:t>
            </a:r>
          </a:p>
          <a:p>
            <a:r>
              <a:rPr sz="850" b="1">
                <a:solidFill>
                  <a:srgbClr val="0F172A"/>
                </a:solidFill>
                <a:latin typeface="Arial"/>
              </a:rPr>
              <a:t>Stack: Python 3.11 + FastAPI + PostgreSQL
</a:t>
            </a:r>
          </a:p>
          <a:p>
            <a:r>
              <a:rPr sz="800">
                <a:solidFill>
                  <a:srgbClr val="334155"/>
                </a:solidFill>
                <a:latin typeface="Arial"/>
              </a:rPr>
              <a:t>Asynchronous, high-throughput microservices with strict Pydantic schemas, caching CACP norms &amp; Agmarknet mandi trends.</a:t>
            </a:r>
          </a:p>
        </p:txBody>
      </p:sp>
      <p:sp>
        <p:nvSpPr>
          <p:cNvPr id="17415" name="Rectangle 17414"/>
          <p:cNvSpPr/>
          <p:nvPr/>
        </p:nvSpPr>
        <p:spPr>
          <a:xfrm>
            <a:off x="6108192" y="4663440"/>
            <a:ext cx="2606040" cy="1572768"/>
          </a:xfrm>
          <a:prstGeom prst="rect">
            <a:avLst/>
          </a:prstGeom>
          <a:solidFill>
            <a:srgbClr val="F8FAFC"/>
          </a:solidFill>
          <a:ln w="17780">
            <a:solidFill>
              <a:srgbClr val="16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t"/>
          <a:lstStyle/>
          <a:p>
            <a:pPr algn="ctr"/>
            <a:r>
              <a:rPr sz="950" b="1">
                <a:solidFill>
                  <a:srgbClr val="16803D"/>
                </a:solidFill>
                <a:latin typeface="Arial"/>
              </a:rPr>
              <a:t>Predictive AI/ML Pipeline
</a:t>
            </a:r>
          </a:p>
          <a:p>
            <a:r>
              <a:rPr sz="850" b="1">
                <a:solidFill>
                  <a:srgbClr val="0F172A"/>
                </a:solidFill>
                <a:latin typeface="Arial"/>
              </a:rPr>
              <a:t>Stack: scikit-learn + XGBoost + LightGBM
</a:t>
            </a:r>
          </a:p>
          <a:p>
            <a:r>
              <a:rPr sz="800">
                <a:solidFill>
                  <a:srgbClr val="334155"/>
                </a:solidFill>
                <a:latin typeface="Arial"/>
              </a:rPr>
              <a:t>District-trained XGBoost Yield Regressor (R² ≥ 0.82) with delay penalty curves + seasonal harvest price forecast.</a:t>
            </a:r>
          </a:p>
        </p:txBody>
      </p:sp>
      <p:sp>
        <p:nvSpPr>
          <p:cNvPr id="17416" name="Rectangle 17415"/>
          <p:cNvSpPr/>
          <p:nvPr/>
        </p:nvSpPr>
        <p:spPr>
          <a:xfrm>
            <a:off x="8979408" y="4663440"/>
            <a:ext cx="2606040" cy="1572768"/>
          </a:xfrm>
          <a:prstGeom prst="rect">
            <a:avLst/>
          </a:prstGeom>
          <a:solidFill>
            <a:srgbClr val="F8FAFC"/>
          </a:solidFill>
          <a:ln w="17780">
            <a:solidFill>
              <a:srgbClr val="0A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t"/>
          <a:lstStyle/>
          <a:p>
            <a:pPr algn="ctr"/>
            <a:r>
              <a:rPr sz="950" b="1">
                <a:solidFill>
                  <a:srgbClr val="0A2240"/>
                </a:solidFill>
                <a:latin typeface="Arial"/>
              </a:rPr>
              <a:t>Deployment &amp; Cloud
</a:t>
            </a:r>
          </a:p>
          <a:p>
            <a:r>
              <a:rPr sz="850" b="1">
                <a:solidFill>
                  <a:srgbClr val="0F172A"/>
                </a:solidFill>
                <a:latin typeface="Arial"/>
              </a:rPr>
              <a:t>Stack: Docker + NIC Cloud / MeghRaj
</a:t>
            </a:r>
          </a:p>
          <a:p>
            <a:r>
              <a:rPr sz="800">
                <a:solidFill>
                  <a:srgbClr val="334155"/>
                </a:solidFill>
                <a:latin typeface="Arial"/>
              </a:rPr>
              <a:t>100% Free &amp; Open-Source (FOSS) architecture with zero per-transaction API fees; offline-first client caching.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AGRI-</a:t>
            </a:r>
            <a:br/>
            <a:r>
              <a:t>DECIDE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0" name="TextBox 17409"/>
          <p:cNvSpPr txBox="1"/>
          <p:nvPr/>
        </p:nvSpPr>
        <p:spPr>
          <a:xfrm>
            <a:off x="365760" y="987552"/>
            <a:ext cx="114300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50" b="1">
                <a:solidFill>
                  <a:srgbClr val="0A2240"/>
                </a:solidFill>
                <a:latin typeface="Arial"/>
              </a:rPr>
              <a:t>• Analysis of the feasibility of the idea (Empirical Benchmarks &amp; ML Fit)</a:t>
            </a:r>
          </a:p>
        </p:txBody>
      </p:sp>
      <p:pic>
        <p:nvPicPr>
          <p:cNvPr id="17411" name="Picture 17410" descr="slide4_char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298448"/>
            <a:ext cx="5760720" cy="2514600"/>
          </a:xfrm>
          <a:prstGeom prst="rect">
            <a:avLst/>
          </a:prstGeom>
        </p:spPr>
      </p:pic>
      <p:sp>
        <p:nvSpPr>
          <p:cNvPr id="17412" name="Rectangle 17411"/>
          <p:cNvSpPr/>
          <p:nvPr/>
        </p:nvSpPr>
        <p:spPr>
          <a:xfrm>
            <a:off x="6309360" y="1298448"/>
            <a:ext cx="5486400" cy="251460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t"/>
          <a:lstStyle/>
          <a:p>
            <a:pPr algn="ctr"/>
            <a:r>
              <a:rPr sz="950" b="1">
                <a:solidFill>
                  <a:srgbClr val="0070C0"/>
                </a:solidFill>
                <a:latin typeface="Arial"/>
              </a:rPr>
              <a:t>✔ Technical &amp; Financial Feasibility: </a:t>
            </a:r>
            <a:r>
              <a:rPr sz="850">
                <a:solidFill>
                  <a:srgbClr val="334155"/>
                </a:solidFill>
                <a:latin typeface="Arial"/>
              </a:rPr>
              <a:t>100% FOSS Stack with zero external API fees; ready for NIC Cloud / MeghRaj deployment with minimal footprint.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A428A"/>
                </a:solidFill>
                <a:latin typeface="Arial"/>
              </a:rPr>
              <a:t>✔ Government Data Grounding: </a:t>
            </a:r>
            <a:r>
              <a:rPr sz="850">
                <a:solidFill>
                  <a:srgbClr val="334155"/>
                </a:solidFill>
                <a:latin typeface="Arial"/>
              </a:rPr>
              <a:t>Grounded in official CACP cost reports, Agmarknet 5-year modal mandi series (2020-2026), and SoilGrids GIS maps.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6803D"/>
                </a:solidFill>
                <a:latin typeface="Arial"/>
              </a:rPr>
              <a:t>✔ Predictive Model Robustness: </a:t>
            </a:r>
            <a:r>
              <a:rPr sz="850">
                <a:solidFill>
                  <a:srgbClr val="334155"/>
                </a:solidFill>
                <a:latin typeface="Arial"/>
              </a:rPr>
              <a:t>Trained XGBoost yield regressor achieves RMSE &lt; 1.8 qtl/acre and R² ≥ 0.82 across 15 core benchmark crops.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F172A"/>
                </a:solidFill>
                <a:latin typeface="Arial"/>
              </a:rPr>
              <a:t>✔ Operational Scalability: </a:t>
            </a:r>
            <a:r>
              <a:rPr sz="850">
                <a:solidFill>
                  <a:srgbClr val="334155"/>
                </a:solidFill>
                <a:latin typeface="Arial"/>
              </a:rPr>
              <a:t>Ultra-lightweight PWA (&lt; 2MB bundle) designed for low-bandwidth rural 2G/3G connectivity with offline caching.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365760" y="3886200"/>
            <a:ext cx="114300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250" b="1">
                <a:solidFill>
                  <a:srgbClr val="0A2240"/>
                </a:solidFill>
                <a:latin typeface="Arial"/>
              </a:rPr>
              <a:t>• Potential challenges and risks  VS  • Strategies for overcoming these challenges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365760" y="4206240"/>
            <a:ext cx="5394960" cy="603504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900" b="1">
                <a:solidFill>
                  <a:srgbClr val="B91C1C"/>
                </a:solidFill>
                <a:latin typeface="Arial"/>
              </a:rPr>
              <a:t>⚠ 1. Micro-Soil Variations: </a:t>
            </a:r>
            <a:r>
              <a:rPr sz="819">
                <a:solidFill>
                  <a:srgbClr val="0F172A"/>
                </a:solidFill>
                <a:latin typeface="Arial"/>
              </a:rPr>
              <a:t>Soil texture variations within Taluka boundaries affecting baseline.</a:t>
            </a:r>
          </a:p>
        </p:txBody>
      </p:sp>
      <p:sp>
        <p:nvSpPr>
          <p:cNvPr id="17415" name="Rectangle 17414"/>
          <p:cNvSpPr/>
          <p:nvPr/>
        </p:nvSpPr>
        <p:spPr>
          <a:xfrm>
            <a:off x="5943600" y="4206240"/>
            <a:ext cx="5852160" cy="603504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900" b="1">
                <a:solidFill>
                  <a:srgbClr val="16803D"/>
                </a:solidFill>
                <a:latin typeface="Arial"/>
              </a:rPr>
              <a:t>🛡 GIS Fallback + Visual Soil Tiles: </a:t>
            </a:r>
            <a:r>
              <a:rPr sz="819">
                <a:solidFill>
                  <a:srgbClr val="0F172A"/>
                </a:solidFill>
                <a:latin typeface="Arial"/>
              </a:rPr>
              <a:t>SoilGrids auto-pull + 4 visual manual tiles (Black, Loam, Red, Sandy) for instant override.</a:t>
            </a:r>
          </a:p>
        </p:txBody>
      </p:sp>
      <p:sp>
        <p:nvSpPr>
          <p:cNvPr id="17416" name="Rectangle 17415"/>
          <p:cNvSpPr/>
          <p:nvPr/>
        </p:nvSpPr>
        <p:spPr>
          <a:xfrm>
            <a:off x="365760" y="4864607"/>
            <a:ext cx="5394960" cy="603504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900" b="1">
                <a:solidFill>
                  <a:srgbClr val="B91C1C"/>
                </a:solidFill>
                <a:latin typeface="Arial"/>
              </a:rPr>
              <a:t>⚠ 2. Monsoon Shifts &amp; Dry Spells: </a:t>
            </a:r>
            <a:r>
              <a:rPr sz="819">
                <a:solidFill>
                  <a:srgbClr val="0F172A"/>
                </a:solidFill>
                <a:latin typeface="Arial"/>
              </a:rPr>
              <a:t>Unseasonal dry spells delaying planned sowing dates.</a:t>
            </a:r>
          </a:p>
        </p:txBody>
      </p:sp>
      <p:sp>
        <p:nvSpPr>
          <p:cNvPr id="17417" name="Rectangle 17416"/>
          <p:cNvSpPr/>
          <p:nvPr/>
        </p:nvSpPr>
        <p:spPr>
          <a:xfrm>
            <a:off x="5943600" y="4864607"/>
            <a:ext cx="5852160" cy="603504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900" b="1">
                <a:solidFill>
                  <a:srgbClr val="16803D"/>
                </a:solidFill>
                <a:latin typeface="Arial"/>
              </a:rPr>
              <a:t>🛡 Real-Time 'What-If' Sandbox: </a:t>
            </a:r>
            <a:r>
              <a:rPr sz="819">
                <a:solidFill>
                  <a:srgbClr val="0F172A"/>
                </a:solidFill>
                <a:latin typeface="Arial"/>
              </a:rPr>
              <a:t>Interactive sensitivity sliders allowing dynamic recalculation for sowing delays (+15d) and rain deficits (-20%).</a:t>
            </a:r>
          </a:p>
        </p:txBody>
      </p:sp>
      <p:sp>
        <p:nvSpPr>
          <p:cNvPr id="17418" name="Rectangle 17417"/>
          <p:cNvSpPr/>
          <p:nvPr/>
        </p:nvSpPr>
        <p:spPr>
          <a:xfrm>
            <a:off x="365760" y="5522975"/>
            <a:ext cx="5394960" cy="603504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900" b="1">
                <a:solidFill>
                  <a:srgbClr val="B91C1C"/>
                </a:solidFill>
                <a:latin typeface="Arial"/>
              </a:rPr>
              <a:t>⚠ 3. Harvest Mandi Price Volatility: </a:t>
            </a:r>
            <a:r>
              <a:rPr sz="819">
                <a:solidFill>
                  <a:srgbClr val="0F172A"/>
                </a:solidFill>
                <a:latin typeface="Arial"/>
              </a:rPr>
              <a:t>Wholesale market price crashes during peak arrival months.</a:t>
            </a:r>
          </a:p>
        </p:txBody>
      </p:sp>
      <p:sp>
        <p:nvSpPr>
          <p:cNvPr id="17419" name="Rectangle 17418"/>
          <p:cNvSpPr/>
          <p:nvPr/>
        </p:nvSpPr>
        <p:spPr>
          <a:xfrm>
            <a:off x="5943600" y="5522975"/>
            <a:ext cx="5852160" cy="603504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900" b="1">
                <a:solidFill>
                  <a:srgbClr val="16803D"/>
                </a:solidFill>
                <a:latin typeface="Arial"/>
              </a:rPr>
              <a:t>🛡 Harvest Seasonal Forecasting: </a:t>
            </a:r>
            <a:r>
              <a:rPr sz="819">
                <a:solidFill>
                  <a:srgbClr val="0F172A"/>
                </a:solidFill>
                <a:latin typeface="Arial"/>
              </a:rPr>
              <a:t>Multi-year arrival index forecasting with explicit volatility risk flags rather than static prices.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AGRI-</a:t>
            </a:r>
            <a:br/>
            <a:r>
              <a:t>DECIDE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0" name="Rectangle 17409"/>
          <p:cNvSpPr/>
          <p:nvPr/>
        </p:nvSpPr>
        <p:spPr>
          <a:xfrm>
            <a:off x="365760" y="1051560"/>
            <a:ext cx="5577840" cy="347472"/>
          </a:xfrm>
          <a:prstGeom prst="rect">
            <a:avLst/>
          </a:prstGeom>
          <a:solidFill>
            <a:srgbClr val="0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• Potential Impact on the Target Audience &amp; Benefits</a:t>
            </a:r>
          </a:p>
        </p:txBody>
      </p:sp>
      <p:sp>
        <p:nvSpPr>
          <p:cNvPr id="17411" name="Rectangle 17410"/>
          <p:cNvSpPr/>
          <p:nvPr/>
        </p:nvSpPr>
        <p:spPr>
          <a:xfrm>
            <a:off x="365760" y="1399032"/>
            <a:ext cx="5577840" cy="480060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t"/>
          <a:lstStyle/>
          <a:p>
            <a:pPr algn="ctr"/>
            <a:r>
              <a:rPr sz="950" b="1">
                <a:solidFill>
                  <a:srgbClr val="0070C0"/>
                </a:solidFill>
                <a:latin typeface="Arial"/>
              </a:rPr>
              <a:t>▪ Empowering 120M+ Indian Smallholders: </a:t>
            </a:r>
            <a:r>
              <a:rPr sz="850">
                <a:solidFill>
                  <a:srgbClr val="334155"/>
                </a:solidFill>
                <a:latin typeface="Arial"/>
              </a:rPr>
              <a:t>Tailored specifically for small &amp; marginal farmers (&lt; 2 ha) operating on limited working capital and variable irrigation.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1A428A"/>
                </a:solidFill>
                <a:latin typeface="Arial"/>
              </a:rPr>
              <a:t>▪ Actionable Metric: Net Profit / Day (₹/Day): </a:t>
            </a:r>
            <a:r>
              <a:rPr sz="850">
                <a:solidFill>
                  <a:srgbClr val="334155"/>
                </a:solidFill>
                <a:latin typeface="Arial"/>
              </a:rPr>
              <a:t>Shifts farmer decision-making from single-crop guesswork to duration-adjusted profitability for multi-season planning.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16803D"/>
                </a:solidFill>
                <a:latin typeface="Arial"/>
              </a:rPr>
              <a:t>▪ Capital &amp; Machinery Savings (Up to 20%): </a:t>
            </a:r>
            <a:r>
              <a:rPr sz="850">
                <a:solidFill>
                  <a:srgbClr val="334155"/>
                </a:solidFill>
                <a:latin typeface="Arial"/>
              </a:rPr>
              <a:t>Deducting owned machinery rental costs avoids budget over-estimation by up to 20%, keeping input costs strictly within available cash.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172A"/>
                </a:solidFill>
                <a:latin typeface="Arial"/>
              </a:rPr>
              <a:t>▪ Zero Chemical Soil Kit Friction (&lt; 60s): </a:t>
            </a:r>
            <a:r>
              <a:rPr sz="850">
                <a:solidFill>
                  <a:srgbClr val="334155"/>
                </a:solidFill>
                <a:latin typeface="Arial"/>
              </a:rPr>
              <a:t>Eliminates reliance on expensive or delayed soil lab tests, enabling instant, high-confidence AI recommendations.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070C0"/>
                </a:solidFill>
                <a:latin typeface="Arial"/>
              </a:rPr>
              <a:t>▪ Social Inclusivity &amp; Voice Accessibility: </a:t>
            </a:r>
            <a:r>
              <a:rPr sz="850">
                <a:solidFill>
                  <a:srgbClr val="334155"/>
                </a:solidFill>
                <a:latin typeface="Arial"/>
              </a:rPr>
              <a:t>Dual-language PWA (English/Hindi) with speech recognition ('बोलकर बताएं') and audio TTS summaries bridges rural literacy barriers.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1A428A"/>
                </a:solidFill>
                <a:latin typeface="Arial"/>
              </a:rPr>
              <a:t>▪ Ecological Soil Health Stewardship: </a:t>
            </a:r>
            <a:r>
              <a:rPr sz="850">
                <a:solidFill>
                  <a:srgbClr val="334155"/>
                </a:solidFill>
                <a:latin typeface="Arial"/>
              </a:rPr>
              <a:t>Actively promotes nitrogen-fixing pulse rotations (Tur/Moong after Cereals) and water-resilient crops in dry zones.</a:t>
            </a:r>
          </a:p>
        </p:txBody>
      </p:sp>
      <p:sp>
        <p:nvSpPr>
          <p:cNvPr id="17412" name="Rectangle 17411"/>
          <p:cNvSpPr/>
          <p:nvPr/>
        </p:nvSpPr>
        <p:spPr>
          <a:xfrm>
            <a:off x="6172200" y="1051560"/>
            <a:ext cx="5623560" cy="347472"/>
          </a:xfrm>
          <a:prstGeom prst="rect">
            <a:avLst/>
          </a:prstGeom>
          <a:solidFill>
            <a:srgbClr val="0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• Benefits of the Solution (Quantified Realization Chart)</a:t>
            </a:r>
          </a:p>
        </p:txBody>
      </p:sp>
      <p:pic>
        <p:nvPicPr>
          <p:cNvPr id="17413" name="Picture 17412" descr="slide5_profit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399032"/>
            <a:ext cx="562356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AGRI-</a:t>
            </a:r>
            <a:br/>
            <a:r>
              <a:t>DECIDE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0" name="TextBox 17409"/>
          <p:cNvSpPr txBox="1"/>
          <p:nvPr/>
        </p:nvSpPr>
        <p:spPr>
          <a:xfrm>
            <a:off x="365760" y="1005840"/>
            <a:ext cx="114300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1">
                <a:solidFill>
                  <a:srgbClr val="0A2240"/>
                </a:solidFill>
                <a:latin typeface="Arial"/>
              </a:rPr>
              <a:t>• Details / Links of the reference and research work</a:t>
            </a:r>
          </a:p>
        </p:txBody>
      </p:sp>
      <p:sp>
        <p:nvSpPr>
          <p:cNvPr id="17411" name="Rectangle 17410"/>
          <p:cNvSpPr/>
          <p:nvPr/>
        </p:nvSpPr>
        <p:spPr>
          <a:xfrm>
            <a:off x="365760" y="1371600"/>
            <a:ext cx="3657600" cy="347472"/>
          </a:xfrm>
          <a:prstGeom prst="rect">
            <a:avLst/>
          </a:prstGeom>
          <a:solidFill>
            <a:srgbClr val="1A4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Government Data Benchmarks</a:t>
            </a:r>
          </a:p>
        </p:txBody>
      </p:sp>
      <p:sp>
        <p:nvSpPr>
          <p:cNvPr id="17412" name="Rectangle 17411"/>
          <p:cNvSpPr/>
          <p:nvPr/>
        </p:nvSpPr>
        <p:spPr>
          <a:xfrm>
            <a:off x="365760" y="1719072"/>
            <a:ext cx="3657600" cy="448056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t"/>
          <a:lstStyle/>
          <a:p>
            <a:pPr algn="ctr"/>
            <a:endParaRPr/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▪ CACP Cultivation Costs
</a:t>
            </a:r>
            <a:r>
              <a:rPr sz="850">
                <a:solidFill>
                  <a:srgbClr val="334155"/>
                </a:solidFill>
                <a:latin typeface="Arial"/>
              </a:rPr>
              <a:t>Ministry of Agriculture &amp; Farmers Welfare, GoI state-wise comprehensive cost of cultivation norms.
</a:t>
            </a:r>
            <a:r>
              <a:rPr sz="800" b="1">
                <a:solidFill>
                  <a:srgbClr val="0070C0"/>
                </a:solidFill>
                <a:latin typeface="Courier New"/>
              </a:rPr>
              <a:t>https://cacp.dacnet.nic.in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▪ Agmarknet Mandi Portal
</a:t>
            </a:r>
            <a:r>
              <a:rPr sz="850">
                <a:solidFill>
                  <a:srgbClr val="334155"/>
                </a:solidFill>
                <a:latin typeface="Arial"/>
              </a:rPr>
              <a:t>Directorate of Marketing &amp; Inspection (DMI) historical 5-year modal wholesale prices (2020–2026).
</a:t>
            </a:r>
            <a:r>
              <a:rPr sz="800" b="1">
                <a:solidFill>
                  <a:srgbClr val="0070C0"/>
                </a:solidFill>
                <a:latin typeface="Courier New"/>
              </a:rPr>
              <a:t>https://agmarknet.gov.in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▪ SoilGrids &amp; ICAR Survey
</a:t>
            </a:r>
            <a:r>
              <a:rPr sz="850">
                <a:solidFill>
                  <a:srgbClr val="334155"/>
                </a:solidFill>
                <a:latin typeface="Arial"/>
              </a:rPr>
              <a:t>ISRIC global soil property maps &amp; ICAR regional agro-climatic crop calendar benchmarks.
</a:t>
            </a:r>
            <a:r>
              <a:rPr sz="800" b="1">
                <a:solidFill>
                  <a:srgbClr val="0070C0"/>
                </a:solidFill>
                <a:latin typeface="Courier New"/>
              </a:rPr>
              <a:t>https://www.soilgrids.org</a:t>
            </a:r>
          </a:p>
        </p:txBody>
      </p:sp>
      <p:sp>
        <p:nvSpPr>
          <p:cNvPr id="17413" name="Rectangle 17412"/>
          <p:cNvSpPr/>
          <p:nvPr/>
        </p:nvSpPr>
        <p:spPr>
          <a:xfrm>
            <a:off x="4187952" y="1371600"/>
            <a:ext cx="3657600" cy="3474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Research Papers &amp; Standards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4187952" y="1719072"/>
            <a:ext cx="3657600" cy="448056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t"/>
          <a:lstStyle/>
          <a:p>
            <a:pPr algn="ctr"/>
            <a:endParaRPr/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▪ XGBoost Algorithmic Framework
</a:t>
            </a:r>
            <a:r>
              <a:rPr sz="850">
                <a:solidFill>
                  <a:srgbClr val="334155"/>
                </a:solidFill>
                <a:latin typeface="Arial"/>
              </a:rPr>
              <a:t>Chen, T., &amp; Guestrin, C. (2016). 'XGBoost: A Scalable Tree Boosting System.' ACM SIGKDD.
</a:t>
            </a:r>
            <a:r>
              <a:rPr sz="800" b="1">
                <a:solidFill>
                  <a:srgbClr val="0070C0"/>
                </a:solidFill>
                <a:latin typeface="Courier New"/>
              </a:rPr>
              <a:t>DOI: 10.1145/2939672.2939785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▪ ICAR Agronomic Guidelines
</a:t>
            </a:r>
            <a:r>
              <a:rPr sz="850">
                <a:solidFill>
                  <a:srgbClr val="334155"/>
                </a:solidFill>
                <a:latin typeface="Arial"/>
              </a:rPr>
              <a:t>Standard crop rotation protocols, GDD heat units, and Kharif/Rabi sowing window management standards.
</a:t>
            </a:r>
            <a:r>
              <a:rPr sz="800" b="1">
                <a:solidFill>
                  <a:srgbClr val="0070C0"/>
                </a:solidFill>
                <a:latin typeface="Courier New"/>
              </a:rPr>
              <a:t>https://icar.org.in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▪ GIGW Digital Accessibility
</a:t>
            </a:r>
            <a:r>
              <a:rPr sz="850">
                <a:solidFill>
                  <a:srgbClr val="334155"/>
                </a:solidFill>
                <a:latin typeface="Arial"/>
              </a:rPr>
              <a:t>Guidelines for Indian Government Apps &amp; Websites (MeitY) for accessible rural digital interfaces.
</a:t>
            </a:r>
            <a:r>
              <a:rPr sz="800" b="1">
                <a:solidFill>
                  <a:srgbClr val="0070C0"/>
                </a:solidFill>
                <a:latin typeface="Courier New"/>
              </a:rPr>
              <a:t>MeitY Guidelines</a:t>
            </a:r>
          </a:p>
        </p:txBody>
      </p:sp>
      <p:sp>
        <p:nvSpPr>
          <p:cNvPr id="17415" name="Rectangle 17414"/>
          <p:cNvSpPr/>
          <p:nvPr/>
        </p:nvSpPr>
        <p:spPr>
          <a:xfrm>
            <a:off x="8010144" y="1371600"/>
            <a:ext cx="3657600" cy="347472"/>
          </a:xfrm>
          <a:prstGeom prst="rect">
            <a:avLst/>
          </a:prstGeom>
          <a:solidFill>
            <a:srgbClr val="16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Project Deliverables &amp; Demos</a:t>
            </a:r>
          </a:p>
        </p:txBody>
      </p:sp>
      <p:sp>
        <p:nvSpPr>
          <p:cNvPr id="17416" name="Rectangle 17415"/>
          <p:cNvSpPr/>
          <p:nvPr/>
        </p:nvSpPr>
        <p:spPr>
          <a:xfrm>
            <a:off x="8010144" y="1719072"/>
            <a:ext cx="3657600" cy="448056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t"/>
          <a:lstStyle/>
          <a:p>
            <a:pPr algn="ctr"/>
            <a:endParaRPr/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▪ GitHub Source Repository
</a:t>
            </a:r>
            <a:r>
              <a:rPr sz="850">
                <a:solidFill>
                  <a:srgbClr val="334155"/>
                </a:solidFill>
                <a:latin typeface="Arial"/>
              </a:rPr>
              <a:t>Complete codebase: FastAPI backend, PostgreSQL schema, Next.js PWA, XGBoost models &amp; seeds.
</a:t>
            </a:r>
            <a:r>
              <a:rPr sz="800" b="1">
                <a:solidFill>
                  <a:srgbClr val="0070C0"/>
                </a:solidFill>
                <a:latin typeface="Courier New"/>
              </a:rPr>
              <a:t>https://github.com/sujeetaionly/agri-decide-sih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▪ Live Cloud Prototype
</a:t>
            </a:r>
            <a:r>
              <a:rPr sz="850">
                <a:solidFill>
                  <a:srgbClr val="334155"/>
                </a:solidFill>
                <a:latin typeface="Arial"/>
              </a:rPr>
              <a:t>Interactive 6-screen PWA featuring Hindi/English voice input, crop comparison, and What-If sliders.
</a:t>
            </a:r>
            <a:r>
              <a:rPr sz="800" b="1">
                <a:solidFill>
                  <a:srgbClr val="0070C0"/>
                </a:solidFill>
                <a:latin typeface="Courier New"/>
              </a:rPr>
              <a:t>https://agri-decide-sih.vercel.app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▪ Team &amp; Institution
</a:t>
            </a:r>
            <a:r>
              <a:rPr sz="850">
                <a:solidFill>
                  <a:srgbClr val="334155"/>
                </a:solidFill>
                <a:latin typeface="Arial"/>
              </a:rPr>
              <a:t>Team AGRI-DECIDE • Malaviya National Institute of Technology (MNIT) Jaipur.
</a:t>
            </a:r>
            <a:r>
              <a:rPr sz="800" b="1">
                <a:solidFill>
                  <a:srgbClr val="0070C0"/>
                </a:solidFill>
                <a:latin typeface="Courier New"/>
              </a:rPr>
              <a:t>SIH 2025 Official Submission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7492</TotalTime>
  <Words>1166</Words>
  <Application>Microsoft Office PowerPoint</Application>
  <PresentationFormat>Widescreen</PresentationFormat>
  <Paragraphs>94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Arial</vt:lpstr>
      <vt:lpstr>Calibri</vt:lpstr>
      <vt:lpstr>Courier New</vt:lpstr>
      <vt:lpstr>Garamond</vt:lpstr>
      <vt:lpstr>Times New Roman</vt:lpstr>
      <vt:lpstr>TradeGothic</vt:lpstr>
      <vt:lpstr>Wingdings</vt:lpstr>
      <vt:lpstr>Office Theme</vt:lpstr>
      <vt:lpstr>SMART INDIA HACKATHON 2025</vt:lpstr>
      <vt:lpstr> IDEA TITLE 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Sujeet Sandeep Bade (00003376584)</cp:lastModifiedBy>
  <cp:revision>148</cp:revision>
  <dcterms:created xsi:type="dcterms:W3CDTF">2013-12-12T18:46:50Z</dcterms:created>
  <dcterms:modified xsi:type="dcterms:W3CDTF">2026-08-18T06:09:31Z</dcterms:modified>
  <cp:category/>
</cp:coreProperties>
</file>